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/>
            </a:pPr>
            <a:r>
              <a:t>Исследование помехоустойчивости кодов Хэмминга и свёрточных кодов при передаче данных по каналу с шумом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Блочный код Хэмминга (7,4) и свёрточный код (7,5)₈ с декодированием по Витерби в канале BPSK + AWGN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553212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Работу выполнил</a:t>
            </a:r>
          </a:p>
          <a:p>
            <a:pPr>
              <a:defRPr sz="1600"/>
            </a:pPr>
            <a:r>
              <a:t>Студент группы 11ОБ-397</a:t>
            </a:r>
          </a:p>
          <a:p>
            <a:pPr>
              <a:defRPr sz="1600"/>
            </a:pPr>
            <a:r>
              <a:t>Чурсин А.В.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Реальные каналы вносят ошибки: помехоустойчивое кодирование платит избыточностью за их исправление.</a:t>
            </a:r>
          </a:p>
          <a:p>
            <a:pPr>
              <a:defRPr sz="2000"/>
            </a:pPr>
            <a:r>
              <a:t>Инженерный компромисс «выигрыш — скорость — сложность» нельзя оценить без измерения при одинаковой нормировке энергии на информационный бит.</a:t>
            </a:r>
          </a:p>
          <a:p>
            <a:pPr>
              <a:defRPr sz="2000"/>
            </a:pPr>
            <a:r>
              <a:t>Цель: количественно оценить, насколько кодирование снижает BER по сравнению с передачей без кодирования, и сравнить два типа кодов.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Изучить теорию блочных и свёрточных кодов: кодовое расстояние, скорость кода, энергетический выигрыш.</a:t>
            </a:r>
          </a:p>
          <a:p>
            <a:pPr>
              <a:defRPr sz="2000"/>
            </a:pPr>
            <a:r>
              <a:t>Реализовать вручную кодер/декодер Хэмминга (7,4) и свёрточный код R = 1/2, K = 3, (7,5)₈ с декодером Витерби.</a:t>
            </a:r>
          </a:p>
          <a:p>
            <a:pPr>
              <a:defRPr sz="2000"/>
            </a:pPr>
            <a:r>
              <a:t>Смоделировать канал BPSK + AWGN с жёстким решением и получить зависимости BER от Eb/N0.</a:t>
            </a:r>
          </a:p>
          <a:p>
            <a:pPr>
              <a:defRPr sz="2000"/>
            </a:pPr>
            <a:r>
              <a:t>Сравнить схемы, определить энергетический выигрыш при BER = 10⁻⁴, сделать выводы.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Код Хэмминга (7,4)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Проверочные биты на позициях 1, 2, 4; информационные — 3, 5, 6, 7.</a:t>
            </a:r>
          </a:p>
          <a:p>
            <a:pPr>
              <a:defRPr sz="1900"/>
            </a:pPr>
            <a:r>
              <a:t>• Синдром напрямую указывает номер ошибочной позиции; исправляется ровно одна ошибка в блоке (d_min = 3, t = 1).</a:t>
            </a:r>
          </a:p>
          <a:p>
            <a:pPr>
              <a:defRPr sz="1900"/>
            </a:pPr>
            <a:r>
              <a:t>• Скорость R = 4/7; двойная ошибка ошибочно «исправляется» в третью позицию — декодер выдаёт неверную информацию без признака отказа.</a:t>
            </a:r>
          </a:p>
          <a:p>
            <a:pPr>
              <a:defRPr sz="1900"/>
            </a:pPr>
            <a:r>
              <a:t>• Проверка: исчерпывающий перебор всех 16 слов × 7 позиций одиночных ошибок.</a:t>
            </a:r>
          </a:p>
        </p:txBody>
      </p:sp>
      <p:pic>
        <p:nvPicPr>
          <p:cNvPr id="4" name="Picture 3" descr="hamming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2880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Свёрточный код и алгоритм Витерби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Регистр сдвига K = 3, полиномы (7,5)₈, выходы v1 = u⊕a⊕b, v2 = u⊕b.</a:t>
            </a:r>
          </a:p>
          <a:p>
            <a:pPr>
              <a:defRPr sz="1900"/>
            </a:pPr>
            <a:r>
              <a:t>• 4 состояния, свободное расстояние d_free = 5 (путь 00→10→01→00, вес 5).</a:t>
            </a:r>
          </a:p>
          <a:p>
            <a:pPr>
              <a:defRPr sz="1900"/>
            </a:pPr>
            <a:r>
              <a:t>• Нулевое завершение решётки: пакет L = 10 000 бит + хвост 2 бита, R_eff = 0.49990.</a:t>
            </a:r>
          </a:p>
          <a:p>
            <a:pPr>
              <a:defRPr sz="1900"/>
            </a:pPr>
            <a:r>
              <a:t>• Витерби: жёсткие решения, метрика Хэмминга, tie-break — меньшее предыдущее состояние.</a:t>
            </a:r>
          </a:p>
        </p:txBody>
      </p:sp>
      <p:pic>
        <p:nvPicPr>
          <p:cNvPr id="4" name="Picture 3" descr="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3770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Модель системы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Цепочка: случайные биты → кодер → BPSK → AWGN → жёсткий демодулятор → декодер → подсчёт ошибок.</a:t>
            </a:r>
          </a:p>
          <a:p>
            <a:pPr>
              <a:defRPr sz="1900"/>
            </a:pPr>
            <a:r>
              <a:t>• Шум: σ² = 1/(2·R_eff·Eb/N0) — мощность шума пересчитывается с учётом скорости кода, иначе сравнение некорректно.</a:t>
            </a:r>
          </a:p>
          <a:p>
            <a:pPr>
              <a:defRPr sz="1900"/>
            </a:pPr>
            <a:r>
              <a:t>• BER считается только по информационным битам; хвостовые биты в подсчёт не входят.</a:t>
            </a:r>
          </a:p>
          <a:p>
            <a:pPr>
              <a:defRPr sz="1900"/>
            </a:pPr>
            <a:r>
              <a:t>• Контрольные варианты: без кодирования, Хэмминг, свёрточный код.</a:t>
            </a:r>
          </a:p>
        </p:txBody>
      </p:sp>
      <p:pic>
        <p:nvPicPr>
          <p:cNvPr id="4" name="Picture 3" descr="channel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1653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эксперимента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Eb/N0 = 0…10 дБ с шагом 1 дБ; уточняющий прогон по сетке 0.2 дБ вокруг BER = 10⁻⁴.</a:t>
            </a:r>
          </a:p>
          <a:p>
            <a:pPr>
              <a:defRPr sz="2000"/>
            </a:pPr>
            <a:r>
              <a:t>Объёмы: 2·10⁶ / 2·10⁶ / 10⁶ информационных бит на точку; расширенный прогон — в 10 раз больше.</a:t>
            </a:r>
          </a:p>
          <a:p>
            <a:pPr>
              <a:defRPr sz="2000"/>
            </a:pPr>
            <a:r>
              <a:t>Фиксированные seed (20261024, 20261026, bootstrap 777001), объёмы зафиксированы до запуска и не подбирались по результатам.</a:t>
            </a:r>
          </a:p>
          <a:p>
            <a:pPr>
              <a:defRPr sz="2000"/>
            </a:pPr>
            <a:r>
              <a:t>119 автоматических тестов: безошибочный канал, одиночные ошибки, сверка Витерби с полным перебором.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Зависимости BER от Eb/N0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Все три кривые на одном графике, логарифмическая шкала BER.</a:t>
            </a:r>
          </a:p>
          <a:p>
            <a:pPr>
              <a:defRPr sz="1900"/>
            </a:pPr>
            <a:r>
              <a:t>• Некодированная кривая согласуется с теорией BPSK в пределах статистической погрешности.</a:t>
            </a:r>
          </a:p>
          <a:p>
            <a:pPr>
              <a:defRPr sz="1900"/>
            </a:pPr>
            <a:r>
              <a:t>• При Eb/N0 ≲ 4 дБ кодирование проигрывает: избыточность снижает энергию на информационный бит сильнее, чем даёт исправление ошибок.</a:t>
            </a:r>
          </a:p>
          <a:p>
            <a:pPr>
              <a:defRPr sz="1900"/>
            </a:pPr>
            <a:r>
              <a:t>• Далее выигрыш растёт с уменьшением BER.</a:t>
            </a:r>
          </a:p>
        </p:txBody>
      </p:sp>
      <p:pic>
        <p:nvPicPr>
          <p:cNvPr id="4" name="Picture 3" descr="b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39155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Энергетический выигрыш при BER = 10⁻⁴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035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• Свёрточный код (7,5)₈ + Витерби: +1.4 дБ (сетка 0.2 дБ: +1.39 [+1.34; +1.43] дБ).</a:t>
            </a:r>
          </a:p>
          <a:p>
            <a:pPr>
              <a:defRPr sz="1900"/>
            </a:pPr>
            <a:r>
              <a:t>• Код Хэмминга (7,4): +0.3 дБ (сетка 0.2 дБ: +0.32 [+0.29; +0.34] дБ).</a:t>
            </a:r>
          </a:p>
          <a:p>
            <a:pPr>
              <a:defRPr sz="1900"/>
            </a:pPr>
            <a:r>
              <a:t>• Интервалы — кластерный bootstrap, 10 000 реплик; разница способов интерполяции (0.10 / 0.19 дБ) учитывается отдельно и с bootstrap не складывается.</a:t>
            </a:r>
          </a:p>
        </p:txBody>
      </p:sp>
      <p:pic>
        <p:nvPicPr>
          <p:cNvPr id="4" name="Picture 3" descr="b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120640" cy="38130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свёрточный код выигрывает больше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Память кодера и решётчатое декодирование используют структуру всей последовательности, а не одного блока из 7 бит.</a:t>
            </a:r>
          </a:p>
          <a:p>
            <a:pPr>
              <a:defRPr sz="2000"/>
            </a:pPr>
            <a:r>
              <a:t>d_free = 5 против d_min = 3 при сопоставимой цене по скорости (≈1/2 против 4/7).</a:t>
            </a:r>
          </a:p>
          <a:p>
            <a:pPr>
              <a:defRPr sz="2000"/>
            </a:pPr>
            <a:r>
              <a:t>Хэмминг исправляет только одиночные ошибки и бессилен против двойных; его выигрыш на уровне 10⁻⁴ — десятые доли дБ.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Честность статистики и 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Ориентир «≥100 ошибок на точку» при 8–10 дБ недостижим в разумное время: в расширенном прогоне у свёрточного кода при 9–10 дБ — 7 и 1 ошибка. Вместо фиктивной точности приведены границы 95 %.</a:t>
            </a:r>
          </a:p>
          <a:p>
            <a:pPr>
              <a:defRPr sz="2000"/>
            </a:pPr>
            <a:r>
              <a:t>Точки без ошибок даны верхней границей, а не BER = 0.</a:t>
            </a:r>
          </a:p>
          <a:p>
            <a:pPr>
              <a:defRPr sz="2000"/>
            </a:pPr>
            <a:r>
              <a:t>Моделировались только жёсткие решения и идеальный AWGN без замираний; выводы — для заданных параметров кодов.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Обе схемы реализованы вручную и проверены независимыми тестами; модель канала нормирована на информационный бит.</a:t>
            </a:r>
          </a:p>
          <a:p>
            <a:pPr>
              <a:defRPr sz="2000"/>
            </a:pPr>
            <a:r>
              <a:t>При BER = 10⁻⁴: свёрточный код с Витерби даёт +1.4 дБ, код Хэмминга (7,4) — +0.3 дБ относительно передачи без кодирования.</a:t>
            </a:r>
          </a:p>
          <a:p>
            <a:pPr>
              <a:defRPr sz="2000"/>
            </a:pPr>
            <a:r>
              <a:t>При Eb/N0 ≲ 4 дБ кодирование невыгодно; выигрыш появляется и растёт с ростом Eb/N0.</a:t>
            </a:r>
          </a:p>
          <a:p>
            <a:pPr>
              <a:defRPr sz="2000"/>
            </a:pPr>
            <a:r>
              <a:t>Проект полностью воспроизводим: seed, версии, параметры и все исходные CSV сохранены в репозитории.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 преподавателя: реализация (вопрос — ответ)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В: Почему порядок битов p1 p2 d1 p4 d2 d3 d4? — О: синдром напрямую равен номеру ошибочной позиции, таблица поиска не нужна.</a:t>
            </a:r>
          </a:p>
          <a:p>
            <a:pPr>
              <a:defRPr sz="2000"/>
            </a:pPr>
            <a:r>
              <a:t>В: Что при двойной ошибке Хэмминга? — О: синдром ненулевой, но ошибка ошибочно «исправляется» в третью позицию, без признака отказа (d_min = 3).</a:t>
            </a:r>
          </a:p>
          <a:p>
            <a:pPr>
              <a:defRPr sz="2000"/>
            </a:pPr>
            <a:r>
              <a:t>В: Откуда d_free = 5 у свёрточного кода? — О: кратчайший путь 00→10→01→00 по диаграмме состояний, выход 11|10|11 веса 5.</a:t>
            </a:r>
          </a:p>
          <a:p>
            <a:pPr>
              <a:defRPr sz="2000"/>
            </a:pPr>
            <a:r>
              <a:t>В: Почему только жёсткие решения? — О: заданы постановкой; мягкие не моделировались, и их преимущество в цифрах не утверждается.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 преподавателя: эксперимент и статистика (вопрос — ответ)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В: Зачем σ² делить на R_eff? — О: Eb — энергия на информационный бит; иначе кодирование получило бы «бесплатную» энергию и завышенный выигрыш.</a:t>
            </a:r>
          </a:p>
          <a:p>
            <a:pPr>
              <a:defRPr sz="2000"/>
            </a:pPr>
            <a:r>
              <a:t>В: Почему не набрано 100 ошибок при 9–10 дБ? — О: при BER ~10⁻⁷ нужно ~10⁹ бит; вместо фиктивной точности приведены границы 95 %.</a:t>
            </a:r>
          </a:p>
          <a:p>
            <a:pPr>
              <a:defRPr sz="2000"/>
            </a:pPr>
            <a:r>
              <a:t>В: Почему интервалы по блокам и пакетам, а не по битам? — О: ошибки внутри блока зависимы; независимая единица — блок (4 бита) или пакет.</a:t>
            </a:r>
          </a:p>
          <a:p>
            <a:pPr>
              <a:defRPr sz="2000"/>
            </a:pPr>
            <a:r>
              <a:t>В: Результат воспроизводим? — О: фиксированные seed и независимые потоки SeedSequence; повторный прогон даёт те же счётчики бит-в-бит.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Вопросы преподавателя: результаты (вопрос — ответ)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В: Почему Хэмминг проигрывает при малых Eb/N0? — О: избыточность 7/4 стоит ≈2.43 дБ и не окупается, пока ошибок в блоке много; выигрыш с ~4 дБ.</a:t>
            </a:r>
          </a:p>
          <a:p>
            <a:pPr>
              <a:defRPr sz="2000"/>
            </a:pPr>
            <a:r>
              <a:t>В: Почему свёрточный код лучше? — О: память кодера и решение по всей решётке, d_free = 5; цена — скорость ≈1/2 и медленное декодирование.</a:t>
            </a:r>
          </a:p>
          <a:p>
            <a:pPr>
              <a:defRPr sz="2000"/>
            </a:pPr>
            <a:r>
              <a:t>В: Насколько точны +1.4 и +0.3 дБ? — О: сетка 0.2 дБ: +1.39 [+1.34; +1.43] и +0.32 [+0.29; +0.34] дБ, bootstrap 10 000 реплик.</a:t>
            </a:r>
          </a:p>
          <a:p>
            <a:pPr>
              <a:defRPr sz="2000"/>
            </a:pPr>
            <a:r>
              <a:t>Полный список вопросов и ответов: документы/Вопросы_к_защите.md в репозитории проекта.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Вопросы?</a:t>
            </a:r>
          </a:p>
          <a:p>
            <a:pPr>
              <a:defRPr sz="2000"/>
            </a:pPr>
            <a:r>
              <a:t>Код, данные, графики и notebook: репозиторий проекта (notebooks/01_research.ipynb — главный документ, 19 разделов).</a:t>
            </a:r>
          </a:p>
          <a:p>
            <a:pPr>
              <a:defRPr sz="2000"/>
            </a:pPr>
            <a:r>
              <a:t>Все вопросы и ответы к защите: документы/Вопросы_к_защите.md.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